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/>
          <a:lstStyle/>
          <a:p>
            <a:r>
              <a:rPr lang="zh-CN"/>
              <a:t>用项目句子开场，明确不做什么。</a:t>
            </a:r>
            <a:endParaRPr lang="zh-C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/>
          <a:lstStyle/>
          <a:p>
            <a:r>
              <a:rPr lang="zh-CN"/>
              <a:t>说明数据如何获得、检查证明什么，以及原始数据为何不进 Git。</a:t>
            </a:r>
            <a:endParaRPr lang="zh-CN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/>
          <a:lstStyle/>
          <a:p>
            <a:r>
              <a:rPr lang="zh-CN"/>
              <a:t>从一条真实输入追踪到结果，删除不必要组件。</a:t>
            </a:r>
            <a:endParaRPr lang="zh-CN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/>
          <a:lstStyle/>
          <a:p>
            <a:r>
              <a:rPr lang="zh-CN"/>
              <a:t>解释保持相同的数据、划分、指标和运行条件。</a:t>
            </a:r>
            <a:endParaRPr lang="zh-CN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/>
          <a:lstStyle/>
          <a:p>
            <a:r>
              <a:rPr lang="zh-CN"/>
              <a:t>数字旁说明命令、数据范围和分母；不只报最好分数。</a:t>
            </a:r>
            <a:endParaRPr lang="zh-CN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/>
          <a:lstStyle/>
          <a:p>
            <a:r>
              <a:rPr lang="zh-CN"/>
              <a:t>展示具体案例，不编造缺失背景或因果故事。</a:t>
            </a:r>
            <a:endParaRPr lang="zh-CN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/>
          <a:lstStyle/>
          <a:p>
            <a:r>
              <a:rPr lang="zh-CN"/>
              <a:t>现场运行或说明最近保存输出；失败时如实标记未复现。</a:t>
            </a:r>
            <a:endParaRPr lang="zh-CN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/>
          <a:lstStyle/>
          <a:p>
            <a:r>
              <a:rPr lang="zh-CN"/>
              <a:t>说清智能体做了什么、学生如何验证和拒绝；用最小下一步收尾。</a:t>
            </a:r>
            <a:endParaRPr lang="zh-CN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Lef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Right"/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3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0000" name="FinalKicker"/>
          <p:cNvSpPr txBox="1"/>
          <p:nvPr/>
        </p:nvSpPr>
        <p:spPr>
          <a:xfrm>
            <a:off x="540000" y="360000"/>
            <a:ext cx="4320000" cy="360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l"/>
            <a:r>
              <a:rPr lang="zh-CN" sz="1600" b="1">
                <a:solidFill>
                  <a:srgbClr val="8DDDD0"/>
                </a:solidFill>
                <a:latin typeface="微软雅黑" panose="020B0503020204020204" charset="-122"/>
                <a:ea typeface="微软雅黑" panose="020B0503020204020204" charset="-122"/>
              </a:rPr>
              <a:t>01 · 45 秒</a:t>
            </a:r>
            <a:endParaRPr lang="zh-CN" sz="1600" b="1">
              <a:solidFill>
                <a:srgbClr val="8DDDD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01" name="FinalTitle"/>
          <p:cNvSpPr txBox="1"/>
          <p:nvPr/>
        </p:nvSpPr>
        <p:spPr>
          <a:xfrm>
            <a:off x="540000" y="756000"/>
            <a:ext cx="10800000" cy="864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l"/>
            <a:r>
              <a:rPr lang="zh-CN" sz="4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真实问题与使用者</a:t>
            </a:r>
            <a:endParaRPr lang="zh-CN" sz="4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02" name="LeftCard"/>
          <p:cNvSpPr/>
          <p:nvPr/>
        </p:nvSpPr>
        <p:spPr>
          <a:xfrm>
            <a:off x="540000" y="2160000"/>
            <a:ext cx="5292000" cy="2340000"/>
          </a:xfrm>
          <a:prstGeom prst="roundRect">
            <a:avLst/>
          </a:prstGeom>
          <a:solidFill>
            <a:srgbClr val="D7F4EE"/>
          </a:solidFill>
          <a:ln>
            <a:noFill/>
          </a:ln>
        </p:spPr>
        <p:txBody>
          <a:bodyPr lIns="90000" tIns="90000" rIns="90000" bIns="90000" anchor="ctr">
            <a:normAutofit/>
          </a:bodyPr>
          <a:lstStyle/>
          <a:p>
            <a:pPr algn="ctr"/>
            <a:r>
              <a:rPr lang="zh-CN" altLang="en-US" sz="2300" b="1">
                <a:solidFill>
                  <a:srgbClr val="123A3A"/>
                </a:solidFill>
                <a:latin typeface="微软雅黑" panose="020B0503020204020204" charset="-122"/>
                <a:ea typeface="微软雅黑" panose="020B0503020204020204" charset="-122"/>
              </a:rPr>
              <a:t>使用者：回收站分类员，分拣时要知道"这张垃圾扔哪个桶"</a:t>
            </a:r>
            <a:endParaRPr lang="zh-CN" altLang="en-US" sz="2300" b="1">
              <a:solidFill>
                <a:srgbClr val="123A3A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lang="zh-CN" altLang="en-US" sz="2300" b="1">
                <a:solidFill>
                  <a:srgbClr val="123A3A"/>
                </a:solidFill>
                <a:latin typeface="微软雅黑" panose="020B0503020204020204" charset="-122"/>
                <a:ea typeface="微软雅黑" panose="020B0503020204020204" charset="-122"/>
              </a:rPr>
              <a:t>帮 </a:t>
            </a:r>
            <a:r>
              <a:rPr lang="en-US" altLang="zh-CN" sz="2300" b="1">
                <a:solidFill>
                  <a:srgbClr val="123A3A"/>
                </a:solidFill>
                <a:latin typeface="微软雅黑" panose="020B0503020204020204" charset="-122"/>
                <a:ea typeface="微软雅黑" panose="020B0503020204020204" charset="-122"/>
              </a:rPr>
              <a:t>TA </a:t>
            </a:r>
            <a:r>
              <a:rPr lang="zh-CN" altLang="en-US" sz="2300" b="1">
                <a:solidFill>
                  <a:srgbClr val="123A3A"/>
                </a:solidFill>
                <a:latin typeface="微软雅黑" panose="020B0503020204020204" charset="-122"/>
                <a:ea typeface="微软雅黑" panose="020B0503020204020204" charset="-122"/>
              </a:rPr>
              <a:t>完成第一级分拣</a:t>
            </a:r>
            <a:endParaRPr lang="zh-CN" altLang="en-US" sz="2300" b="1">
              <a:solidFill>
                <a:srgbClr val="123A3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03" name="RightCard"/>
          <p:cNvSpPr/>
          <p:nvPr/>
        </p:nvSpPr>
        <p:spPr>
          <a:xfrm>
            <a:off x="6156000" y="2160000"/>
            <a:ext cx="5436000" cy="2340000"/>
          </a:xfrm>
          <a:prstGeom prst="roundRect">
            <a:avLst/>
          </a:prstGeom>
          <a:solidFill>
            <a:srgbClr val="C9E8F2"/>
          </a:solidFill>
          <a:ln>
            <a:noFill/>
          </a:ln>
        </p:spPr>
        <p:txBody>
          <a:bodyPr lIns="90000" tIns="90000" rIns="90000" bIns="90000" anchor="ctr">
            <a:normAutofit/>
          </a:bodyPr>
          <a:lstStyle/>
          <a:p>
            <a:pPr algn="ctr"/>
            <a:r>
              <a:rPr lang="zh-CN" altLang="en-US" sz="2300" b="1">
                <a:solidFill>
                  <a:srgbClr val="173F5F"/>
                </a:solidFill>
                <a:latin typeface="微软雅黑" panose="020B0503020204020204" charset="-122"/>
                <a:ea typeface="微软雅黑" panose="020B0503020204020204" charset="-122"/>
              </a:rPr>
              <a:t>输入：一张垃圾照片 → 输出：可回收物/厨余垃圾/有害垃圾/其他垃圾</a:t>
            </a:r>
            <a:endParaRPr lang="zh-CN" altLang="en-US" sz="2300" b="1">
              <a:solidFill>
                <a:srgbClr val="173F5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04" name="FinalFooter"/>
          <p:cNvSpPr txBox="1"/>
          <p:nvPr/>
        </p:nvSpPr>
        <p:spPr>
          <a:xfrm>
            <a:off x="720000" y="5184000"/>
            <a:ext cx="10764000" cy="432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ctr"/>
            <a:endParaRPr lang="zh-CN" sz="1800" b="0">
              <a:solidFill>
                <a:srgbClr val="D6F5E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0005" name="Kicker"/>
          <p:cNvSpPr txBox="1"/>
          <p:nvPr/>
        </p:nvSpPr>
        <p:spPr>
          <a:xfrm>
            <a:off x="540000" y="252000"/>
            <a:ext cx="5400000" cy="288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l"/>
            <a:r>
              <a:rPr lang="zh-CN" sz="1400" b="1">
                <a:solidFill>
                  <a:srgbClr val="028090"/>
                </a:solidFill>
                <a:latin typeface="微软雅黑" panose="020B0503020204020204" charset="-122"/>
                <a:ea typeface="微软雅黑" panose="020B0503020204020204" charset="-122"/>
              </a:rPr>
              <a:t>02 · 60 秒</a:t>
            </a:r>
            <a:endParaRPr lang="zh-CN" sz="1400" b="1">
              <a:solidFill>
                <a:srgbClr val="02809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06" name="Title"/>
          <p:cNvSpPr txBox="1"/>
          <p:nvPr/>
        </p:nvSpPr>
        <p:spPr>
          <a:xfrm>
            <a:off x="540000" y="558000"/>
            <a:ext cx="10980000" cy="756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l"/>
            <a:r>
              <a:rPr lang="zh-CN" sz="3800" b="1">
                <a:solidFill>
                  <a:srgbClr val="183B45"/>
                </a:solidFill>
                <a:latin typeface="微软雅黑" panose="020B0503020204020204" charset="-122"/>
                <a:ea typeface="微软雅黑" panose="020B0503020204020204" charset="-122"/>
              </a:rPr>
              <a:t>真实数据契约</a:t>
            </a:r>
            <a:endParaRPr lang="zh-CN" sz="3800" b="1">
              <a:solidFill>
                <a:srgbClr val="183B4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07" name="PageMark"/>
          <p:cNvSpPr/>
          <p:nvPr/>
        </p:nvSpPr>
        <p:spPr>
          <a:xfrm>
            <a:off x="11232000" y="252000"/>
            <a:ext cx="396000" cy="396000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008" name="LeftCard"/>
          <p:cNvSpPr/>
          <p:nvPr/>
        </p:nvSpPr>
        <p:spPr>
          <a:xfrm>
            <a:off x="540000" y="2160000"/>
            <a:ext cx="5292000" cy="2340000"/>
          </a:xfrm>
          <a:prstGeom prst="roundRect">
            <a:avLst/>
          </a:prstGeom>
          <a:solidFill>
            <a:srgbClr val="183B45"/>
          </a:solidFill>
          <a:ln>
            <a:noFill/>
          </a:ln>
        </p:spPr>
        <p:txBody>
          <a:bodyPr lIns="90000" tIns="90000" rIns="90000" bIns="90000" anchor="ctr">
            <a:normAutofit/>
          </a:bodyPr>
          <a:lstStyle/>
          <a:p>
            <a:pPr algn="ctr"/>
            <a:r>
              <a:rPr lang="en-US" altLang="zh-CN" sz="2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Kaggle "Garbage classification dataset"（shanlan426），Apache 2.0</a:t>
            </a:r>
            <a:endParaRPr lang="zh-CN" altLang="en-US" sz="2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09" name="RightCard"/>
          <p:cNvSpPr/>
          <p:nvPr/>
        </p:nvSpPr>
        <p:spPr>
          <a:xfrm>
            <a:off x="6156000" y="2160000"/>
            <a:ext cx="5436000" cy="2340000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txBody>
          <a:bodyPr lIns="90000" tIns="90000" rIns="90000" bIns="90000" anchor="ctr">
            <a:normAutofit/>
          </a:bodyPr>
          <a:lstStyle/>
          <a:p>
            <a:pPr algn="ctr"/>
            <a:r>
              <a:rPr lang="zh-CN" altLang="en-US" sz="2300" b="1">
                <a:solidFill>
                  <a:srgbClr val="083B35"/>
                </a:solidFill>
                <a:latin typeface="微软雅黑" panose="020B0503020204020204" charset="-122"/>
                <a:ea typeface="微软雅黑" panose="020B0503020204020204" charset="-122"/>
              </a:rPr>
              <a:t>55 个细类按前缀合并成 4 大类，共 12094 张</a:t>
            </a:r>
            <a:endParaRPr lang="zh-CN" altLang="en-US" sz="2300" b="1">
              <a:solidFill>
                <a:srgbClr val="083B35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lang="zh-CN" altLang="en-US" sz="2300" b="1">
                <a:solidFill>
                  <a:srgbClr val="083B35"/>
                </a:solidFill>
                <a:latin typeface="微软雅黑" panose="020B0503020204020204" charset="-122"/>
                <a:ea typeface="微软雅黑" panose="020B0503020204020204" charset="-122"/>
              </a:rPr>
              <a:t>固定 80/20 划分（</a:t>
            </a:r>
            <a:r>
              <a:rPr lang="en-US" altLang="zh-CN" sz="2300" b="1">
                <a:solidFill>
                  <a:srgbClr val="083B35"/>
                </a:solidFill>
                <a:latin typeface="微软雅黑" panose="020B0503020204020204" charset="-122"/>
                <a:ea typeface="微软雅黑" panose="020B0503020204020204" charset="-122"/>
              </a:rPr>
              <a:t>SEED=42），</a:t>
            </a:r>
            <a:r>
              <a:rPr lang="zh-CN" altLang="en-US" sz="2300" b="1">
                <a:solidFill>
                  <a:srgbClr val="083B35"/>
                </a:solidFill>
                <a:latin typeface="微软雅黑" panose="020B0503020204020204" charset="-122"/>
                <a:ea typeface="微软雅黑" panose="020B0503020204020204" charset="-122"/>
              </a:rPr>
              <a:t>测试集 2417 张独立</a:t>
            </a:r>
            <a:endParaRPr lang="zh-CN" altLang="en-US" sz="2300" b="1">
              <a:solidFill>
                <a:srgbClr val="083B3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10" name="FinalFooter"/>
          <p:cNvSpPr txBox="1"/>
          <p:nvPr/>
        </p:nvSpPr>
        <p:spPr>
          <a:xfrm>
            <a:off x="720000" y="5184000"/>
            <a:ext cx="10764000" cy="432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ctr"/>
            <a:endParaRPr lang="zh-CN" sz="1800" b="0">
              <a:solidFill>
                <a:srgbClr val="39545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0011" name="Kicker"/>
          <p:cNvSpPr txBox="1"/>
          <p:nvPr/>
        </p:nvSpPr>
        <p:spPr>
          <a:xfrm>
            <a:off x="540000" y="252000"/>
            <a:ext cx="5400000" cy="288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l"/>
            <a:r>
              <a:rPr lang="zh-CN" sz="1400" b="1">
                <a:solidFill>
                  <a:srgbClr val="028090"/>
                </a:solidFill>
                <a:latin typeface="微软雅黑" panose="020B0503020204020204" charset="-122"/>
                <a:ea typeface="微软雅黑" panose="020B0503020204020204" charset="-122"/>
              </a:rPr>
              <a:t>03 · 75 秒</a:t>
            </a:r>
            <a:endParaRPr lang="zh-CN" sz="1400" b="1">
              <a:solidFill>
                <a:srgbClr val="02809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12" name="Title"/>
          <p:cNvSpPr txBox="1"/>
          <p:nvPr/>
        </p:nvSpPr>
        <p:spPr>
          <a:xfrm>
            <a:off x="540000" y="558000"/>
            <a:ext cx="10980000" cy="756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l"/>
            <a:r>
              <a:rPr lang="zh-CN" sz="3800" b="1">
                <a:solidFill>
                  <a:srgbClr val="183B45"/>
                </a:solidFill>
                <a:latin typeface="微软雅黑" panose="020B0503020204020204" charset="-122"/>
                <a:ea typeface="微软雅黑" panose="020B0503020204020204" charset="-122"/>
              </a:rPr>
              <a:t>端到端系统流程</a:t>
            </a:r>
            <a:endParaRPr lang="zh-CN" sz="3800" b="1">
              <a:solidFill>
                <a:srgbClr val="183B4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13" name="PageMark"/>
          <p:cNvSpPr/>
          <p:nvPr/>
        </p:nvSpPr>
        <p:spPr>
          <a:xfrm>
            <a:off x="11232000" y="252000"/>
            <a:ext cx="396000" cy="396000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014" name="LeftCard"/>
          <p:cNvSpPr/>
          <p:nvPr/>
        </p:nvSpPr>
        <p:spPr>
          <a:xfrm>
            <a:off x="540000" y="2160000"/>
            <a:ext cx="5292000" cy="2340000"/>
          </a:xfrm>
          <a:prstGeom prst="roundRect">
            <a:avLst/>
          </a:prstGeom>
          <a:solidFill>
            <a:srgbClr val="183B45"/>
          </a:solidFill>
          <a:ln>
            <a:noFill/>
          </a:ln>
        </p:spPr>
        <p:txBody>
          <a:bodyPr lIns="90000" tIns="90000" rIns="90000" bIns="90000" anchor="ctr">
            <a:normAutofit/>
          </a:bodyPr>
          <a:lstStyle/>
          <a:p>
            <a:pPr algn="ctr"/>
            <a:r>
              <a:rPr lang="zh-CN" altLang="en-US" sz="2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真实输入 → </a:t>
            </a:r>
            <a:r>
              <a:rPr lang="en-US" altLang="zh-CN" sz="2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make_split </a:t>
            </a:r>
            <a:r>
              <a:rPr lang="zh-CN" altLang="en-US" sz="2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固定 80/20 划分 → 缩到 64×64</a:t>
            </a:r>
            <a:endParaRPr lang="zh-CN" altLang="en-US" sz="2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15" name="RightCard"/>
          <p:cNvSpPr/>
          <p:nvPr/>
        </p:nvSpPr>
        <p:spPr>
          <a:xfrm>
            <a:off x="6156000" y="2160000"/>
            <a:ext cx="5436000" cy="2340000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txBody>
          <a:bodyPr lIns="90000" tIns="90000" rIns="90000" bIns="90000" anchor="ctr">
            <a:normAutofit/>
          </a:bodyPr>
          <a:lstStyle/>
          <a:p>
            <a:pPr algn="ctr"/>
            <a:r>
              <a:rPr lang="zh-CN" altLang="en-US" sz="2300" b="1">
                <a:solidFill>
                  <a:srgbClr val="083B35"/>
                </a:solidFill>
                <a:latin typeface="微软雅黑" panose="020B0503020204020204" charset="-122"/>
                <a:ea typeface="微软雅黑" panose="020B0503020204020204" charset="-122"/>
              </a:rPr>
              <a:t>基线(多数类) / 候选(小</a:t>
            </a:r>
            <a:r>
              <a:rPr lang="en-US" altLang="zh-CN" sz="2300" b="1">
                <a:solidFill>
                  <a:srgbClr val="083B35"/>
                </a:solidFill>
                <a:latin typeface="微软雅黑" panose="020B0503020204020204" charset="-122"/>
                <a:ea typeface="微软雅黑" panose="020B0503020204020204" charset="-122"/>
              </a:rPr>
              <a:t>CNN、</a:t>
            </a:r>
            <a:r>
              <a:rPr lang="zh-CN" altLang="en-US" sz="2300" b="1">
                <a:solidFill>
                  <a:srgbClr val="083B35"/>
                </a:solidFill>
                <a:latin typeface="微软雅黑" panose="020B0503020204020204" charset="-122"/>
                <a:ea typeface="微软雅黑" panose="020B0503020204020204" charset="-122"/>
              </a:rPr>
              <a:t>迁移学习) → 评估(测试集2417张) → 输出</a:t>
            </a:r>
            <a:endParaRPr lang="zh-CN" altLang="en-US" sz="2300" b="1">
              <a:solidFill>
                <a:srgbClr val="083B3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16" name="FinalFooter"/>
          <p:cNvSpPr txBox="1"/>
          <p:nvPr/>
        </p:nvSpPr>
        <p:spPr>
          <a:xfrm>
            <a:off x="720000" y="5184000"/>
            <a:ext cx="10764000" cy="432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ctr"/>
            <a:endParaRPr lang="zh-CN" sz="1800" b="0">
              <a:solidFill>
                <a:srgbClr val="39545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0017" name="Kicker"/>
          <p:cNvSpPr txBox="1"/>
          <p:nvPr/>
        </p:nvSpPr>
        <p:spPr>
          <a:xfrm>
            <a:off x="540000" y="252000"/>
            <a:ext cx="5400000" cy="288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l"/>
            <a:r>
              <a:rPr lang="zh-CN" sz="1400" b="1">
                <a:solidFill>
                  <a:srgbClr val="028090"/>
                </a:solidFill>
                <a:latin typeface="微软雅黑" panose="020B0503020204020204" charset="-122"/>
                <a:ea typeface="微软雅黑" panose="020B0503020204020204" charset="-122"/>
              </a:rPr>
              <a:t>04 · 90 秒</a:t>
            </a:r>
            <a:endParaRPr lang="zh-CN" sz="1400" b="1">
              <a:solidFill>
                <a:srgbClr val="02809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18" name="Title"/>
          <p:cNvSpPr txBox="1"/>
          <p:nvPr/>
        </p:nvSpPr>
        <p:spPr>
          <a:xfrm>
            <a:off x="540000" y="558000"/>
            <a:ext cx="10980000" cy="756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l"/>
            <a:r>
              <a:rPr lang="zh-CN" sz="3800" b="1">
                <a:solidFill>
                  <a:srgbClr val="183B45"/>
                </a:solidFill>
                <a:latin typeface="微软雅黑" panose="020B0503020204020204" charset="-122"/>
                <a:ea typeface="微软雅黑" panose="020B0503020204020204" charset="-122"/>
              </a:rPr>
              <a:t>简单基线与候选</a:t>
            </a:r>
            <a:endParaRPr lang="zh-CN" sz="3800" b="1">
              <a:solidFill>
                <a:srgbClr val="183B4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19" name="PageMark"/>
          <p:cNvSpPr/>
          <p:nvPr/>
        </p:nvSpPr>
        <p:spPr>
          <a:xfrm>
            <a:off x="11232000" y="252000"/>
            <a:ext cx="396000" cy="396000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020" name="LeftCard"/>
          <p:cNvSpPr/>
          <p:nvPr/>
        </p:nvSpPr>
        <p:spPr>
          <a:xfrm>
            <a:off x="540000" y="2160000"/>
            <a:ext cx="5292000" cy="2340000"/>
          </a:xfrm>
          <a:prstGeom prst="roundRect">
            <a:avLst/>
          </a:prstGeom>
          <a:solidFill>
            <a:srgbClr val="183B45"/>
          </a:solidFill>
          <a:ln>
            <a:noFill/>
          </a:ln>
        </p:spPr>
        <p:txBody>
          <a:bodyPr lIns="90000" tIns="90000" rIns="90000" bIns="90000" anchor="ctr">
            <a:normAutofit/>
          </a:bodyPr>
          <a:lstStyle/>
          <a:p>
            <a:pPr algn="ctr"/>
            <a:r>
              <a:rPr lang="zh-CN" altLang="en-US" sz="2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基线：多数类（全猜厨余）0.4261</a:t>
            </a:r>
            <a:endParaRPr lang="zh-CN" altLang="en-US" sz="2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21" name="RightCard"/>
          <p:cNvSpPr/>
          <p:nvPr/>
        </p:nvSpPr>
        <p:spPr>
          <a:xfrm>
            <a:off x="6156000" y="2160000"/>
            <a:ext cx="5436000" cy="2340000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txBody>
          <a:bodyPr lIns="90000" tIns="90000" rIns="90000" bIns="90000" anchor="ctr">
            <a:normAutofit/>
          </a:bodyPr>
          <a:lstStyle/>
          <a:p>
            <a:pPr algn="ctr"/>
            <a:r>
              <a:rPr lang="zh-CN" altLang="en-US" sz="2300" b="1">
                <a:solidFill>
                  <a:srgbClr val="083B35"/>
                </a:solidFill>
                <a:latin typeface="微软雅黑" panose="020B0503020204020204" charset="-122"/>
                <a:ea typeface="微软雅黑" panose="020B0503020204020204" charset="-122"/>
              </a:rPr>
              <a:t>候选一：小 </a:t>
            </a:r>
            <a:r>
              <a:rPr lang="en-US" altLang="zh-CN" sz="2300" b="1">
                <a:solidFill>
                  <a:srgbClr val="083B35"/>
                </a:solidFill>
                <a:latin typeface="微软雅黑" panose="020B0503020204020204" charset="-122"/>
                <a:ea typeface="微软雅黑" panose="020B0503020204020204" charset="-122"/>
              </a:rPr>
              <a:t>CNN（</a:t>
            </a:r>
            <a:r>
              <a:rPr lang="zh-CN" altLang="en-US" sz="2300" b="1">
                <a:solidFill>
                  <a:srgbClr val="083B35"/>
                </a:solidFill>
                <a:latin typeface="微软雅黑" panose="020B0503020204020204" charset="-122"/>
                <a:ea typeface="微软雅黑" panose="020B0503020204020204" charset="-122"/>
              </a:rPr>
              <a:t>从零训练）0.6268</a:t>
            </a:r>
            <a:endParaRPr lang="zh-CN" altLang="en-US" sz="2300" b="1">
              <a:solidFill>
                <a:srgbClr val="083B35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lang="zh-CN" altLang="en-US" sz="2300" b="1">
                <a:solidFill>
                  <a:srgbClr val="083B35"/>
                </a:solidFill>
                <a:latin typeface="微软雅黑" panose="020B0503020204020204" charset="-122"/>
                <a:ea typeface="微软雅黑" panose="020B0503020204020204" charset="-122"/>
              </a:rPr>
              <a:t>候选二：迁移学习（预训练 </a:t>
            </a:r>
            <a:r>
              <a:rPr lang="en-US" altLang="zh-CN" sz="2300" b="1">
                <a:solidFill>
                  <a:srgbClr val="083B35"/>
                </a:solidFill>
                <a:latin typeface="微软雅黑" panose="020B0503020204020204" charset="-122"/>
                <a:ea typeface="微软雅黑" panose="020B0503020204020204" charset="-122"/>
              </a:rPr>
              <a:t>ResNet18 </a:t>
            </a:r>
            <a:r>
              <a:rPr lang="zh-CN" altLang="en-US" sz="2300" b="1">
                <a:solidFill>
                  <a:srgbClr val="083B35"/>
                </a:solidFill>
                <a:latin typeface="微软雅黑" panose="020B0503020204020204" charset="-122"/>
                <a:ea typeface="微软雅黑" panose="020B0503020204020204" charset="-122"/>
              </a:rPr>
              <a:t>冻结 + 线性分类器）0.8858</a:t>
            </a:r>
            <a:endParaRPr lang="zh-CN" altLang="en-US" sz="2300" b="1">
              <a:solidFill>
                <a:srgbClr val="083B3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22" name="FinalFooter"/>
          <p:cNvSpPr txBox="1"/>
          <p:nvPr/>
        </p:nvSpPr>
        <p:spPr>
          <a:xfrm>
            <a:off x="720000" y="5184000"/>
            <a:ext cx="10764000" cy="432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ctr"/>
            <a:endParaRPr lang="zh-CN" sz="1800" b="0">
              <a:solidFill>
                <a:srgbClr val="39545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0023" name="Kicker"/>
          <p:cNvSpPr txBox="1"/>
          <p:nvPr/>
        </p:nvSpPr>
        <p:spPr>
          <a:xfrm>
            <a:off x="540000" y="252000"/>
            <a:ext cx="5400000" cy="288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l"/>
            <a:r>
              <a:rPr lang="zh-CN" sz="1400" b="1">
                <a:solidFill>
                  <a:srgbClr val="028090"/>
                </a:solidFill>
                <a:latin typeface="微软雅黑" panose="020B0503020204020204" charset="-122"/>
                <a:ea typeface="微软雅黑" panose="020B0503020204020204" charset="-122"/>
              </a:rPr>
              <a:t>05 · 90 秒</a:t>
            </a:r>
            <a:endParaRPr lang="zh-CN" sz="1400" b="1">
              <a:solidFill>
                <a:srgbClr val="02809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24" name="Title"/>
          <p:cNvSpPr txBox="1"/>
          <p:nvPr/>
        </p:nvSpPr>
        <p:spPr>
          <a:xfrm>
            <a:off x="540000" y="558000"/>
            <a:ext cx="10980000" cy="756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l"/>
            <a:r>
              <a:rPr lang="zh-CN" sz="3800" b="1">
                <a:solidFill>
                  <a:srgbClr val="183B45"/>
                </a:solidFill>
                <a:latin typeface="微软雅黑" panose="020B0503020204020204" charset="-122"/>
                <a:ea typeface="微软雅黑" panose="020B0503020204020204" charset="-122"/>
              </a:rPr>
              <a:t>同一条件下的结果</a:t>
            </a:r>
            <a:endParaRPr lang="zh-CN" sz="3800" b="1">
              <a:solidFill>
                <a:srgbClr val="183B4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25" name="PageMark"/>
          <p:cNvSpPr/>
          <p:nvPr/>
        </p:nvSpPr>
        <p:spPr>
          <a:xfrm>
            <a:off x="11232000" y="252000"/>
            <a:ext cx="396000" cy="396000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026" name="LeftCard"/>
          <p:cNvSpPr/>
          <p:nvPr/>
        </p:nvSpPr>
        <p:spPr>
          <a:xfrm>
            <a:off x="540000" y="2160000"/>
            <a:ext cx="5292000" cy="2340000"/>
          </a:xfrm>
          <a:prstGeom prst="roundRect">
            <a:avLst/>
          </a:prstGeom>
          <a:solidFill>
            <a:srgbClr val="183B45"/>
          </a:solidFill>
          <a:ln>
            <a:noFill/>
          </a:ln>
        </p:spPr>
        <p:txBody>
          <a:bodyPr lIns="90000" tIns="90000" rIns="90000" bIns="90000" anchor="ctr">
            <a:normAutofit/>
          </a:bodyPr>
          <a:lstStyle/>
          <a:p>
            <a:pPr algn="ctr"/>
            <a:r>
              <a:rPr lang="zh-CN" altLang="en-US" sz="2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左框：同一测试集 2417 张——基线 0.4261 / 候选一 0.6268 / 候选二 0.8858</a:t>
            </a:r>
            <a:endParaRPr lang="zh-CN" altLang="en-US" sz="2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27" name="RightCard"/>
          <p:cNvSpPr/>
          <p:nvPr/>
        </p:nvSpPr>
        <p:spPr>
          <a:xfrm>
            <a:off x="6156000" y="2160000"/>
            <a:ext cx="5436000" cy="2340000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txBody>
          <a:bodyPr lIns="90000" tIns="90000" rIns="90000" bIns="90000" anchor="ctr">
            <a:normAutofit/>
          </a:bodyPr>
          <a:lstStyle/>
          <a:p>
            <a:pPr algn="ctr"/>
            <a:r>
              <a:rPr lang="zh-CN" altLang="en-US" sz="2300" b="1">
                <a:solidFill>
                  <a:srgbClr val="083B35"/>
                </a:solidFill>
                <a:latin typeface="微软雅黑" panose="020B0503020204020204" charset="-122"/>
                <a:ea typeface="微软雅黑" panose="020B0503020204020204" charset="-122"/>
              </a:rPr>
              <a:t>每类准确率(候选二)——厨余 0.96、有害 0.89、其他 0.81、可回收 0.80</a:t>
            </a:r>
            <a:endParaRPr lang="zh-CN" altLang="en-US" sz="2300" b="1">
              <a:solidFill>
                <a:srgbClr val="083B3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28" name="FinalFooter"/>
          <p:cNvSpPr txBox="1"/>
          <p:nvPr/>
        </p:nvSpPr>
        <p:spPr>
          <a:xfrm>
            <a:off x="720000" y="5184000"/>
            <a:ext cx="10764000" cy="432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ctr"/>
            <a:endParaRPr lang="zh-CN" sz="1800" b="0">
              <a:solidFill>
                <a:srgbClr val="39545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0029" name="Kicker"/>
          <p:cNvSpPr txBox="1"/>
          <p:nvPr/>
        </p:nvSpPr>
        <p:spPr>
          <a:xfrm>
            <a:off x="540000" y="252000"/>
            <a:ext cx="5400000" cy="288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l"/>
            <a:r>
              <a:rPr lang="zh-CN" sz="1400" b="1">
                <a:solidFill>
                  <a:srgbClr val="028090"/>
                </a:solidFill>
                <a:latin typeface="微软雅黑" panose="020B0503020204020204" charset="-122"/>
                <a:ea typeface="微软雅黑" panose="020B0503020204020204" charset="-122"/>
              </a:rPr>
              <a:t>06 · 90 秒</a:t>
            </a:r>
            <a:endParaRPr lang="zh-CN" sz="1400" b="1">
              <a:solidFill>
                <a:srgbClr val="02809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30" name="Title"/>
          <p:cNvSpPr txBox="1"/>
          <p:nvPr/>
        </p:nvSpPr>
        <p:spPr>
          <a:xfrm>
            <a:off x="540000" y="558000"/>
            <a:ext cx="10980000" cy="756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l"/>
            <a:r>
              <a:rPr lang="zh-CN" sz="3800" b="1">
                <a:solidFill>
                  <a:srgbClr val="183B45"/>
                </a:solidFill>
                <a:latin typeface="微软雅黑" panose="020B0503020204020204" charset="-122"/>
                <a:ea typeface="微软雅黑" panose="020B0503020204020204" charset="-122"/>
              </a:rPr>
              <a:t>一个真实失败案例</a:t>
            </a:r>
            <a:endParaRPr lang="zh-CN" sz="3800" b="1">
              <a:solidFill>
                <a:srgbClr val="183B4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31" name="PageMark"/>
          <p:cNvSpPr/>
          <p:nvPr/>
        </p:nvSpPr>
        <p:spPr>
          <a:xfrm>
            <a:off x="11232000" y="252000"/>
            <a:ext cx="396000" cy="396000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032" name="LeftCard"/>
          <p:cNvSpPr/>
          <p:nvPr/>
        </p:nvSpPr>
        <p:spPr>
          <a:xfrm>
            <a:off x="540000" y="2160000"/>
            <a:ext cx="5292000" cy="2340000"/>
          </a:xfrm>
          <a:prstGeom prst="roundRect">
            <a:avLst/>
          </a:prstGeom>
          <a:solidFill>
            <a:srgbClr val="183B45"/>
          </a:solidFill>
          <a:ln>
            <a:noFill/>
          </a:ln>
        </p:spPr>
        <p:txBody>
          <a:bodyPr lIns="90000" tIns="90000" rIns="90000" bIns="90000" anchor="ctr">
            <a:normAutofit/>
          </a:bodyPr>
          <a:lstStyle/>
          <a:p>
            <a:pPr algn="ctr"/>
            <a:r>
              <a:rPr lang="zh-CN" altLang="en-US" sz="2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真实失败（最终模型 </a:t>
            </a:r>
            <a:r>
              <a:rPr lang="en-US" altLang="zh-CN" sz="2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v2）：</a:t>
            </a:r>
            <a:r>
              <a:rPr lang="zh-CN" altLang="en-US" sz="2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湿纸巾 </a:t>
            </a:r>
            <a:r>
              <a:rPr lang="en-US" altLang="zh-CN" sz="2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img_</a:t>
            </a:r>
            <a:r>
              <a:rPr lang="zh-CN" altLang="en-US" sz="2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湿纸巾_72.</a:t>
            </a:r>
            <a:r>
              <a:rPr lang="en-US" altLang="zh-CN" sz="2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jpeg，</a:t>
            </a:r>
            <a:r>
              <a:rPr lang="zh-CN" altLang="en-US" sz="2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真值=其他垃圾，预测=可回收物——塑料包装看起来像可回收物</a:t>
            </a:r>
            <a:r>
              <a:rPr lang="zh-CN" altLang="en-US" sz="2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altLang="en-US" sz="2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33" name="RightCard"/>
          <p:cNvSpPr/>
          <p:nvPr/>
        </p:nvSpPr>
        <p:spPr>
          <a:xfrm>
            <a:off x="6156000" y="2160000"/>
            <a:ext cx="5436000" cy="2340000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txBody>
          <a:bodyPr lIns="90000" tIns="90000" rIns="90000" bIns="90000" anchor="ctr">
            <a:normAutofit/>
          </a:bodyPr>
          <a:lstStyle/>
          <a:p>
            <a:pPr algn="ctr"/>
            <a:r>
              <a:rPr lang="zh-CN" altLang="en-US" sz="2300" b="1">
                <a:solidFill>
                  <a:srgbClr val="083B35"/>
                </a:solidFill>
                <a:latin typeface="微软雅黑" panose="020B0503020204020204" charset="-122"/>
                <a:ea typeface="微软雅黑" panose="020B0503020204020204" charset="-122"/>
              </a:rPr>
              <a:t>失败 276/2417；可回收物仍相对较弱 0.80；不能证明模型无用（准确率 0.8858）；</a:t>
            </a:r>
            <a:endParaRPr lang="zh-CN" altLang="en-US" sz="2300" b="1">
              <a:solidFill>
                <a:srgbClr val="083B35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lang="zh-CN" altLang="en-US" sz="2300" b="1">
                <a:solidFill>
                  <a:srgbClr val="083B35"/>
                </a:solidFill>
                <a:latin typeface="微软雅黑" panose="020B0503020204020204" charset="-122"/>
                <a:ea typeface="微软雅黑" panose="020B0503020204020204" charset="-122"/>
              </a:rPr>
              <a:t>下一检查：按类统计（候选一可回收物曾 0.39 → </a:t>
            </a:r>
            <a:r>
              <a:rPr lang="en-US" altLang="zh-CN" sz="2300" b="1">
                <a:solidFill>
                  <a:srgbClr val="083B35"/>
                </a:solidFill>
                <a:latin typeface="微软雅黑" panose="020B0503020204020204" charset="-122"/>
                <a:ea typeface="微软雅黑" panose="020B0503020204020204" charset="-122"/>
              </a:rPr>
              <a:t>v2 </a:t>
            </a:r>
            <a:r>
              <a:rPr lang="zh-CN" altLang="en-US" sz="2300" b="1">
                <a:solidFill>
                  <a:srgbClr val="083B35"/>
                </a:solidFill>
                <a:latin typeface="微软雅黑" panose="020B0503020204020204" charset="-122"/>
                <a:ea typeface="微软雅黑" panose="020B0503020204020204" charset="-122"/>
              </a:rPr>
              <a:t>提升到 0.80）</a:t>
            </a:r>
            <a:endParaRPr lang="zh-CN" altLang="en-US" sz="2300" b="1">
              <a:solidFill>
                <a:srgbClr val="083B3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34" name="FinalFooter"/>
          <p:cNvSpPr txBox="1"/>
          <p:nvPr/>
        </p:nvSpPr>
        <p:spPr>
          <a:xfrm>
            <a:off x="720000" y="5184000"/>
            <a:ext cx="10764000" cy="432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ctr"/>
            <a:endParaRPr lang="zh-CN" sz="1800" b="0">
              <a:solidFill>
                <a:srgbClr val="39545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0035" name="Kicker"/>
          <p:cNvSpPr txBox="1"/>
          <p:nvPr/>
        </p:nvSpPr>
        <p:spPr>
          <a:xfrm>
            <a:off x="540000" y="252000"/>
            <a:ext cx="5400000" cy="288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l"/>
            <a:r>
              <a:rPr lang="zh-CN" sz="1400" b="1">
                <a:solidFill>
                  <a:srgbClr val="028090"/>
                </a:solidFill>
                <a:latin typeface="微软雅黑" panose="020B0503020204020204" charset="-122"/>
                <a:ea typeface="微软雅黑" panose="020B0503020204020204" charset="-122"/>
              </a:rPr>
              <a:t>07 · 90 秒</a:t>
            </a:r>
            <a:endParaRPr lang="zh-CN" sz="1400" b="1">
              <a:solidFill>
                <a:srgbClr val="02809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36" name="Title"/>
          <p:cNvSpPr txBox="1"/>
          <p:nvPr/>
        </p:nvSpPr>
        <p:spPr>
          <a:xfrm>
            <a:off x="540000" y="558000"/>
            <a:ext cx="10980000" cy="756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l"/>
            <a:r>
              <a:rPr lang="zh-CN" sz="3800" b="1">
                <a:solidFill>
                  <a:srgbClr val="183B45"/>
                </a:solidFill>
                <a:latin typeface="微软雅黑" panose="020B0503020204020204" charset="-122"/>
                <a:ea typeface="微软雅黑" panose="020B0503020204020204" charset="-122"/>
              </a:rPr>
              <a:t>运行演示与可复现证据</a:t>
            </a:r>
            <a:endParaRPr lang="zh-CN" sz="3800" b="1">
              <a:solidFill>
                <a:srgbClr val="183B4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37" name="PageMark"/>
          <p:cNvSpPr/>
          <p:nvPr/>
        </p:nvSpPr>
        <p:spPr>
          <a:xfrm>
            <a:off x="11232000" y="252000"/>
            <a:ext cx="396000" cy="396000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038" name="LeftCard"/>
          <p:cNvSpPr/>
          <p:nvPr/>
        </p:nvSpPr>
        <p:spPr>
          <a:xfrm>
            <a:off x="540000" y="2160000"/>
            <a:ext cx="5292000" cy="2340000"/>
          </a:xfrm>
          <a:prstGeom prst="roundRect">
            <a:avLst/>
          </a:prstGeom>
          <a:solidFill>
            <a:srgbClr val="183B45"/>
          </a:solidFill>
          <a:ln>
            <a:noFill/>
          </a:ln>
        </p:spPr>
        <p:txBody>
          <a:bodyPr lIns="90000" tIns="90000" rIns="90000" bIns="90000" anchor="ctr">
            <a:normAutofit/>
          </a:bodyPr>
          <a:lstStyle/>
          <a:p>
            <a:pPr algn="ctr"/>
            <a:r>
              <a:rPr lang="en-US" altLang="zh-CN" sz="2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python candidate_v2.py（0.8858）</a:t>
            </a:r>
            <a:endParaRPr lang="en-US" altLang="zh-CN" sz="23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39" name="RightCard"/>
          <p:cNvSpPr/>
          <p:nvPr/>
        </p:nvSpPr>
        <p:spPr>
          <a:xfrm>
            <a:off x="6156000" y="2160000"/>
            <a:ext cx="5436000" cy="2340000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txBody>
          <a:bodyPr lIns="90000" tIns="90000" rIns="90000" bIns="90000" anchor="ctr">
            <a:normAutofit lnSpcReduction="20000"/>
          </a:bodyPr>
          <a:lstStyle/>
          <a:p>
            <a:pPr algn="ctr"/>
            <a:r>
              <a:rPr lang="zh-CN" altLang="en-US" sz="2300" b="1">
                <a:solidFill>
                  <a:srgbClr val="083B35"/>
                </a:solidFill>
                <a:latin typeface="微软雅黑" panose="020B0503020204020204" charset="-122"/>
                <a:ea typeface="微软雅黑" panose="020B0503020204020204" charset="-122"/>
              </a:rPr>
              <a:t>测试 </a:t>
            </a:r>
            <a:r>
              <a:rPr lang="en-US" altLang="zh-CN" sz="2300" b="1">
                <a:solidFill>
                  <a:srgbClr val="083B35"/>
                </a:solidFill>
                <a:latin typeface="微软雅黑" panose="020B0503020204020204" charset="-122"/>
                <a:ea typeface="微软雅黑" panose="020B0503020204020204" charset="-122"/>
              </a:rPr>
              <a:t>python -m pytest tests/（2 passed）；</a:t>
            </a:r>
            <a:endParaRPr lang="en-US" altLang="zh-CN" sz="2300" b="1">
              <a:solidFill>
                <a:srgbClr val="083B35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lang="zh-CN" altLang="en-US" sz="2300" b="1">
                <a:solidFill>
                  <a:srgbClr val="083B35"/>
                </a:solidFill>
                <a:latin typeface="微软雅黑" panose="020B0503020204020204" charset="-122"/>
                <a:ea typeface="微软雅黑" panose="020B0503020204020204" charset="-122"/>
              </a:rPr>
              <a:t>输出文件：</a:t>
            </a:r>
            <a:r>
              <a:rPr lang="en-US" altLang="zh-CN" sz="2300" b="1">
                <a:solidFill>
                  <a:srgbClr val="083B35"/>
                </a:solidFill>
                <a:latin typeface="微软雅黑" panose="020B0503020204020204" charset="-122"/>
                <a:ea typeface="微软雅黑" panose="020B0503020204020204" charset="-122"/>
              </a:rPr>
              <a:t>candidate_result.txt / failure_examples.txt；</a:t>
            </a:r>
            <a:endParaRPr lang="en-US" altLang="zh-CN" sz="2300" b="1">
              <a:solidFill>
                <a:srgbClr val="083B35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lang="zh-CN" altLang="en-US" sz="2300" b="1">
                <a:solidFill>
                  <a:srgbClr val="083B35"/>
                </a:solidFill>
                <a:latin typeface="微软雅黑" panose="020B0503020204020204" charset="-122"/>
                <a:ea typeface="微软雅黑" panose="020B0503020204020204" charset="-122"/>
              </a:rPr>
              <a:t>演示失败时用 </a:t>
            </a:r>
            <a:r>
              <a:rPr lang="en-US" altLang="zh-CN" sz="2300" b="1">
                <a:solidFill>
                  <a:srgbClr val="083B35"/>
                </a:solidFill>
                <a:latin typeface="微软雅黑" panose="020B0503020204020204" charset="-122"/>
                <a:ea typeface="微软雅黑" panose="020B0503020204020204" charset="-122"/>
              </a:rPr>
              <a:t>README </a:t>
            </a:r>
            <a:r>
              <a:rPr lang="zh-CN" altLang="en-US" sz="2300" b="1">
                <a:solidFill>
                  <a:srgbClr val="083B35"/>
                </a:solidFill>
                <a:latin typeface="微软雅黑" panose="020B0503020204020204" charset="-122"/>
                <a:ea typeface="微软雅黑" panose="020B0503020204020204" charset="-122"/>
              </a:rPr>
              <a:t>命令 + 保存的输出继续</a:t>
            </a:r>
            <a:endParaRPr lang="zh-CN" altLang="en-US" sz="2300" b="1">
              <a:solidFill>
                <a:srgbClr val="083B35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40" name="FinalFooter"/>
          <p:cNvSpPr txBox="1"/>
          <p:nvPr/>
        </p:nvSpPr>
        <p:spPr>
          <a:xfrm>
            <a:off x="720000" y="5184000"/>
            <a:ext cx="10764000" cy="432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ctr"/>
            <a:endParaRPr lang="zh-CN" sz="1800" b="0">
              <a:solidFill>
                <a:srgbClr val="39545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3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0041" name="FinalKicker"/>
          <p:cNvSpPr txBox="1"/>
          <p:nvPr/>
        </p:nvSpPr>
        <p:spPr>
          <a:xfrm>
            <a:off x="540000" y="360000"/>
            <a:ext cx="4320000" cy="360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l"/>
            <a:r>
              <a:rPr lang="zh-CN" sz="1600" b="1">
                <a:solidFill>
                  <a:srgbClr val="8DDDD0"/>
                </a:solidFill>
                <a:latin typeface="微软雅黑" panose="020B0503020204020204" charset="-122"/>
                <a:ea typeface="微软雅黑" panose="020B0503020204020204" charset="-122"/>
              </a:rPr>
              <a:t>08 · 60 秒</a:t>
            </a:r>
            <a:endParaRPr lang="zh-CN" sz="1600" b="1">
              <a:solidFill>
                <a:srgbClr val="8DDDD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42" name="FinalTitle"/>
          <p:cNvSpPr txBox="1"/>
          <p:nvPr/>
        </p:nvSpPr>
        <p:spPr>
          <a:xfrm>
            <a:off x="540000" y="756000"/>
            <a:ext cx="10800000" cy="864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l"/>
            <a:r>
              <a:rPr lang="zh-CN" sz="4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边界、智能体贡献与下一步</a:t>
            </a:r>
            <a:endParaRPr lang="zh-CN" sz="4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43" name="LeftCard"/>
          <p:cNvSpPr/>
          <p:nvPr/>
        </p:nvSpPr>
        <p:spPr>
          <a:xfrm>
            <a:off x="540000" y="2160000"/>
            <a:ext cx="5292000" cy="2340000"/>
          </a:xfrm>
          <a:prstGeom prst="roundRect">
            <a:avLst/>
          </a:prstGeom>
          <a:solidFill>
            <a:srgbClr val="D7F4EE"/>
          </a:solidFill>
          <a:ln>
            <a:noFill/>
          </a:ln>
        </p:spPr>
        <p:txBody>
          <a:bodyPr lIns="90000" tIns="90000" rIns="90000" bIns="90000" anchor="ctr">
            <a:normAutofit/>
          </a:bodyPr>
          <a:lstStyle/>
          <a:p>
            <a:pPr algn="ctr"/>
            <a:r>
              <a:rPr lang="zh-CN" altLang="en-US" sz="2300" b="1">
                <a:solidFill>
                  <a:srgbClr val="123A3A"/>
                </a:solidFill>
                <a:latin typeface="微软雅黑" panose="020B0503020204020204" charset="-122"/>
                <a:ea typeface="微软雅黑" panose="020B0503020204020204" charset="-122"/>
              </a:rPr>
              <a:t>数据白底室内、类别不均衡；不做自动罚款等高风险决策</a:t>
            </a:r>
            <a:endParaRPr lang="zh-CN" altLang="en-US" sz="2300" b="1">
              <a:solidFill>
                <a:srgbClr val="123A3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44" name="RightCard"/>
          <p:cNvSpPr/>
          <p:nvPr/>
        </p:nvSpPr>
        <p:spPr>
          <a:xfrm>
            <a:off x="6156000" y="2160000"/>
            <a:ext cx="5436000" cy="2340000"/>
          </a:xfrm>
          <a:prstGeom prst="roundRect">
            <a:avLst/>
          </a:prstGeom>
          <a:solidFill>
            <a:srgbClr val="C9E8F2"/>
          </a:solidFill>
          <a:ln>
            <a:noFill/>
          </a:ln>
        </p:spPr>
        <p:txBody>
          <a:bodyPr lIns="90000" tIns="90000" rIns="90000" bIns="90000" anchor="ctr">
            <a:normAutofit/>
          </a:bodyPr>
          <a:lstStyle/>
          <a:p>
            <a:pPr algn="ctr"/>
            <a:r>
              <a:rPr lang="zh-CN" altLang="en-US" sz="2300" b="1">
                <a:solidFill>
                  <a:srgbClr val="173F5F"/>
                </a:solidFill>
                <a:latin typeface="微软雅黑" panose="020B0503020204020204" charset="-122"/>
                <a:ea typeface="微软雅黑" panose="020B0503020204020204" charset="-122"/>
              </a:rPr>
              <a:t>下一步：给可回收物加数据 / 提高分辨率</a:t>
            </a:r>
            <a:endParaRPr lang="zh-CN" altLang="en-US" sz="2300" b="1">
              <a:solidFill>
                <a:srgbClr val="173F5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045" name="FinalFooter"/>
          <p:cNvSpPr txBox="1"/>
          <p:nvPr/>
        </p:nvSpPr>
        <p:spPr>
          <a:xfrm>
            <a:off x="720000" y="5184000"/>
            <a:ext cx="10764000" cy="432000"/>
          </a:xfrm>
          <a:prstGeom prst="rect">
            <a:avLst/>
          </a:prstGeom>
        </p:spPr>
        <p:txBody>
          <a:bodyPr lIns="43200" tIns="43200" rIns="43200" bIns="43200" anchor="ctr">
            <a:normAutofit/>
          </a:bodyPr>
          <a:lstStyle/>
          <a:p>
            <a:pPr algn="ctr"/>
            <a:endParaRPr lang="zh-CN" sz="1800" b="0">
              <a:solidFill>
                <a:srgbClr val="D6F5E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927</Words>
  <Application>WPS 演示</Application>
  <PresentationFormat/>
  <Paragraphs>70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5" baseType="lpstr">
      <vt:lpstr>Arial</vt:lpstr>
      <vt:lpstr>宋体</vt:lpstr>
      <vt:lpstr>Wingdings</vt:lpstr>
      <vt:lpstr>微软雅黑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OfficeCLI</dc:creator>
  <cp:lastModifiedBy>高川石</cp:lastModifiedBy>
  <cp:revision>1</cp:revision>
  <dcterms:created xsi:type="dcterms:W3CDTF">2026-08-27T16:45:29Z</dcterms:created>
  <dcterms:modified xsi:type="dcterms:W3CDTF">2026-08-27T16:45:29Z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fficeCLI.Version">
    <vt:lpwstr>1.0.143</vt:lpwstr>
  </property>
  <property fmtid="{D5CDD505-2E9C-101B-9397-08002B2CF9AE}" pid="3" name="OfficeCLI.LastModified">
    <vt:lpwstr>2026-08-11T15:35:40Z</vt:lpwstr>
  </property>
  <property fmtid="{D5CDD505-2E9C-101B-9397-08002B2CF9AE}" pid="4" name="KSOProductBuildVer">
    <vt:lpwstr>2052-12.1.0.28043</vt:lpwstr>
  </property>
  <property fmtid="{D5CDD505-2E9C-101B-9397-08002B2CF9AE}" pid="5" name="ICV">
    <vt:lpwstr>117D5126B036406C80354915F0C0ACC6_12</vt:lpwstr>
  </property>
</Properties>
</file>