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2"/>
  </p:notesMasterIdLst>
  <p:sldIdLst>
    <p:sldId id="256" r:id="rId3"/>
    <p:sldId id="257" r:id="rId4"/>
    <p:sldId id="258" r:id="rId5"/>
    <p:sldId id="268" r:id="rId6"/>
    <p:sldId id="259" r:id="rId7"/>
    <p:sldId id="260" r:id="rId8"/>
    <p:sldId id="261" r:id="rId9"/>
    <p:sldId id="262" r:id="rId10"/>
    <p:sldId id="264" r:id="rId11"/>
    <p:sldId id="265" r:id="rId13"/>
    <p:sldId id="267" r:id="rId14"/>
    <p:sldId id="263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11" d="100"/>
          <a:sy n="111" d="100"/>
        </p:scale>
        <p:origin x="210" y="45"/>
      </p:cViewPr>
      <p:guideLst>
        <p:guide orient="horz" pos="2131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解释保持相同的数据、划分、指标和运行条件。</a:t>
            </a:r>
            <a:endParaRPr 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数字旁说明命令、数据范围和分母；不只报最好分数。</a:t>
            </a:r>
            <a:endParaRPr 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8.png"/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0" y="274320"/>
            <a:ext cx="2743200" cy="365760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🎯 懒得起名组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垃圾分类图像识别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可回收 / 厨余 / 有害 / 其他 四分类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828800"/>
            <a:ext cx="2743200" cy="27432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1920240" cy="11887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厨余垃圾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5153张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2011680"/>
            <a:ext cx="1920240" cy="11887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♻️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606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可回收物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8803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3331张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011680"/>
            <a:ext cx="1920240" cy="11887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☠️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606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有害垃圾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8803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2158张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2011680"/>
            <a:ext cx="1920240" cy="1188720"/>
          </a:xfrm>
          <a:prstGeom prst="round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🗑️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606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其他垃圾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8803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1452张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3474720"/>
            <a:ext cx="6400800" cy="54864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为回收站分类员提供第一级分拣辅助 | 真实数据12,094张 | 基线 vs 小CNN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D2 Milestone | 2026 AI 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645920" cy="292608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🎯 懒得起名组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0972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问题与使用者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59" y="548640"/>
            <a:ext cx="260604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👤 使用者是谁？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499" y="960120"/>
            <a:ext cx="2423160" cy="822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回收站分类员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每天需要分拣大量垃圾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人工耗时耗力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需要工具帮助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8979" y="548640"/>
            <a:ext cx="2606040" cy="36576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🎯 解决什么问题？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96012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输入：一张真实垃圾照片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输出：四类之一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可回收物 / 厨余垃圾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有害垃圾 / 其他垃圾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帮助完成第一级分拣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7900" y="548640"/>
            <a:ext cx="2606040" cy="3657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⚠️ 最重要的错误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9340" y="960120"/>
            <a:ext cx="2423160" cy="62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有害垃圾误判为其他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→ 安全风险（电池等）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365760" y="2834640"/>
            <a:ext cx="8412480" cy="32004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✅ 普通案例 vs ❌ 困难案例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46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✅ 普通案例：img_毛巾_185.jpeg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真值=其他垃圾，模型预测正确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毛巾有清晰布料纹理，特征明显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分类员不用仔细看就能放进对的桶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46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❌ 困难案例：img_胶带_182.jpeg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真值=其他垃圾，模型预测=有害垃圾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胶带光滑紧凑，64×64小图特征不明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低置信度时应提示人工复核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434840"/>
            <a:ext cx="8412480" cy="457200"/>
          </a:xfrm>
          <a:prstGeom prst="round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🚫 明确不做：实时视频、自动罚款/决策、医疗/安全高风险自动判断、55细类识别、检测定位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645920" cy="292608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🎯 懒得起名组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0972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真实数据详情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48640"/>
            <a:ext cx="402336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📊 数据来源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数据集：Garbage classification dataset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发布者：shanlan426 (Kaggle)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许可：Apache 2.0（教师已批准）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原始URL：kaggle.com/datasets/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shanlan426/garbage-classification-dataset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内容：55个细类文件夹（命名"大类_细类"）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按前缀合并成4大类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548640"/>
            <a:ext cx="4023360" cy="36576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📈 类别分布（共12,094张）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🍎 厨余垃圾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33272"/>
            <a:ext cx="973836" cy="1645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91756" y="1005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5153 (42.6%)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258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♻️ 可回收物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53312"/>
            <a:ext cx="630936" cy="16459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48856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565C0"/>
                </a:solidFill>
                <a:latin typeface="微软雅黑" panose="020B0503020204020204" charset="-122"/>
              </a:defRPr>
            </a:pPr>
            <a:r>
              <a:t>3331 (27.6%)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☠️ 有害垃圾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673352"/>
            <a:ext cx="406907" cy="16459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4828" y="16459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62828"/>
                </a:solidFill>
                <a:latin typeface="微软雅黑" panose="020B0503020204020204" charset="-122"/>
              </a:defRPr>
            </a:pPr>
            <a:r>
              <a:t>2158 (17.8%)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1965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🗑️ 其他垃圾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993392"/>
            <a:ext cx="274320" cy="164592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965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57575"/>
                </a:solidFill>
                <a:latin typeface="微软雅黑" panose="020B0503020204020204" charset="-122"/>
              </a:defRPr>
            </a:pPr>
            <a:r>
              <a:t>1452 (12.0%)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560320"/>
            <a:ext cx="4023360" cy="365760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🔀 数据划分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9718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划分脚本：make_split.py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随机种子：SEED=42（固定可复现）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划分比例：80%训练 / 20%测试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每类内部独立划分（分层抽样）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结果：split.json（基线和候选共用）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2560320"/>
            <a:ext cx="4023360" cy="3657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⚠️ 数据偏差与限制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71800"/>
            <a:ext cx="4023360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类别不均衡：厨余最多(5153)，其他最少(1452)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Git排除：data/raw/大文件不提交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206240"/>
            <a:ext cx="8412480" cy="54864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训练子集：每类1000张（共4000张）用于加速训练；评估用完整TEST 2,417张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/>
          <p:nvPr/>
        </p:nvPicPr>
        <p:blipFill>
          <a:blip r:embed="rId1"/>
          <a:stretch>
            <a:fillRect/>
          </a:stretch>
        </p:blipFill>
        <p:spPr>
          <a:xfrm>
            <a:off x="-635" y="-45720"/>
            <a:ext cx="4320540" cy="5189220"/>
          </a:xfrm>
          <a:prstGeom prst="rect">
            <a:avLst/>
          </a:prstGeom>
        </p:spPr>
      </p:pic>
      <p:pic>
        <p:nvPicPr>
          <p:cNvPr id="3" name="图片 2"/>
          <p:cNvPicPr/>
          <p:nvPr/>
        </p:nvPicPr>
        <p:blipFill>
          <a:blip r:embed="rId2"/>
          <a:stretch>
            <a:fillRect/>
          </a:stretch>
        </p:blipFill>
        <p:spPr>
          <a:xfrm>
            <a:off x="3700780" y="-45720"/>
            <a:ext cx="3850005" cy="5189855"/>
          </a:xfrm>
          <a:prstGeom prst="rect">
            <a:avLst/>
          </a:prstGeom>
        </p:spPr>
      </p:pic>
      <p:pic>
        <p:nvPicPr>
          <p:cNvPr id="4" name="图片 3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-45720"/>
            <a:ext cx="7110730" cy="3782060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4"/>
          <a:stretch>
            <a:fillRect/>
          </a:stretch>
        </p:blipFill>
        <p:spPr>
          <a:xfrm>
            <a:off x="1247140" y="1397000"/>
            <a:ext cx="7896860" cy="3746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645920" cy="292608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🎯 懒得起名组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0972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方法1：多数类基线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48640"/>
            <a:ext cx="8412480" cy="365760"/>
          </a:xfrm>
          <a:prstGeom prst="round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🎲 多数类基线（Majority Class Baseline）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原理：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1. 统计训练集中各类别的数量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2. 找出数量最多的类别（多数类）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3. 对测试集所有图片都预测为多数类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特点：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• 不读取任何图像像素内容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• 不需要训练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• 参数量 = 0</a:t>
            </a:r>
          </a:p>
          <a:p>
            <a:pPr>
              <a:spcAft>
                <a:spcPts val="300"/>
              </a:spcAft>
              <a:defRPr sz="10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• 是最简单的"智能"策略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005840"/>
            <a:ext cx="4023360" cy="320040"/>
          </a:xfrm>
          <a:prstGeom prst="round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📊 在本数据集上的预期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37160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训练集分布：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厨余：5153×0.8 ≈ 4122张（最多）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可回收：3331×0.8 ≈ 2665张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有害：2158×0.8 ≈ 1726张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其他：1452×0.8 ≈ 1162张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→ 多数类 = 厨余垃圾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→ 所有测试图片都预测为厨余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→ 准确率 ≈ 1030/2417 = 0.4261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017520"/>
            <a:ext cx="8412480" cy="32004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🎯 为什么需要基线？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基线是最低性能标准：如果一个模型连基线都比不过，那它还不如"瞎猜多数类"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没有基线对比，0.6268的准确率看起来"还行"，但不知道是不是真的学到了东西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基线帮助我们判断：+0.2007的提升是真实的特征学习，而不是数据分布带来的假象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类比：考试的及格线，过了线才说明模型真的有用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617720"/>
            <a:ext cx="8412480" cy="320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基线预期结果：准确率0.4261，非厨余类召回率=0%，所有可回收/有害/其他全部漏检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645920" cy="292608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🎯 懒得起名组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0972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方法2：小CNN候选模型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48640"/>
            <a:ext cx="841248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🧠 小型卷积神经网络（SmallCNN）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1051560"/>
            <a:ext cx="749808" cy="502920"/>
          </a:xfrm>
          <a:prstGeom prst="round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输入</a:t>
            </a:r>
            <a:br/>
            <a:r>
              <a:t>3×64×64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16736" y="1051560"/>
            <a:ext cx="749808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Conv1</a:t>
            </a:r>
            <a:br/>
            <a:r>
              <a:t>3→16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9696" y="1051560"/>
            <a:ext cx="749808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Pool</a:t>
            </a:r>
            <a:br/>
            <a:r>
              <a:t>32×32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62656" y="1051560"/>
            <a:ext cx="749808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Conv2</a:t>
            </a:r>
            <a:br/>
            <a:r>
              <a:t>16→32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85615" y="1051560"/>
            <a:ext cx="749808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Pool</a:t>
            </a:r>
            <a:br/>
            <a:r>
              <a:t>16×16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08576" y="1051560"/>
            <a:ext cx="749808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Conv3</a:t>
            </a:r>
            <a:br/>
            <a:r>
              <a:t>32→64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31536" y="1051560"/>
            <a:ext cx="749808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Pool</a:t>
            </a:r>
            <a:br/>
            <a:r>
              <a:t>8×8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5" y="1051560"/>
            <a:ext cx="749808" cy="502920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Flatten</a:t>
            </a:r>
            <a:br/>
            <a:r>
              <a:t>4096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77455" y="1051560"/>
            <a:ext cx="749808" cy="502920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FC</a:t>
            </a:r>
            <a:br/>
            <a:r>
              <a:t>128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0416" y="1051560"/>
            <a:ext cx="749808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输出</a:t>
            </a:r>
            <a:br/>
            <a:r>
              <a:t>4类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173736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架构详情：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• 3个卷积块：Conv2d + ReLU + MaxPool2d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• 卷积核：3×3，padding=1（保持尺寸）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• 池化：2×2，步长2（尺寸减半）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• 2个全连接层：4096→128→4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• Dropout(0.5)防止过拟合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• 可训练参数：约548K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737360"/>
            <a:ext cx="402336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⚙️ 训练设置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优化器：Adam，lr=0.001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损失函数：CrossEntropyLoss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训练轮数：EPOCHS=6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批量大小：BATCH_SIZE=32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训练子集：每类1000张（共4000张）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数据增强：随机水平翻转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图像尺寸：缩放到64×64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标准化：mean=[0.5,0.5,0.5], std=[0.5,0.5,0.5]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383280"/>
            <a:ext cx="8412480" cy="32004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✅ 公平比较保证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749039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同一split.json：基线和候选读同一个划分文件，保证训练/测试集完全相同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同一测试集：2,417张图像（厨余1030 / 可回收666 / 有害431 / 其他290）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同一评估指标：准确率（猜对/全部），同时报告每类准确率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同一随机种子：SEED=42，保证可复现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645920" cy="292608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🎯 懒得起名组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0972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关键结果：整体对比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48640"/>
            <a:ext cx="3840480" cy="1371600"/>
          </a:xfrm>
          <a:prstGeom prst="round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🎲 多数类基线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0.4261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1030/2417 正确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005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548640"/>
            <a:ext cx="3840480" cy="1371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6400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🧠 小CNN候选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91440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0.6268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508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1515/2417 正确 (+485张)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2057400"/>
            <a:ext cx="45720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⬆️ 提升 +0.2007 (相对提升47%)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60320"/>
            <a:ext cx="182880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指标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560320"/>
            <a:ext cx="2011680" cy="292608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多数类基线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2560320"/>
            <a:ext cx="201168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小CNN候选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560320"/>
            <a:ext cx="2011680" cy="29260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差异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52927"/>
            <a:ext cx="18288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总准确率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2852927"/>
            <a:ext cx="201168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0.4261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2852927"/>
            <a:ext cx="201168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0.6268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852927"/>
            <a:ext cx="201168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+0.2007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108959"/>
            <a:ext cx="182880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厨余准确率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108959"/>
            <a:ext cx="201168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1.0000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108959"/>
            <a:ext cx="201168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0.8515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108959"/>
            <a:ext cx="201168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-0.1485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64991"/>
            <a:ext cx="18288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可回收准确率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94560" y="3364991"/>
            <a:ext cx="201168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C62828"/>
                </a:solidFill>
                <a:latin typeface="微软雅黑" panose="020B0503020204020204" charset="-122"/>
              </a:defRPr>
            </a:pPr>
            <a:r>
              <a:t>0.0000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3364991"/>
            <a:ext cx="201168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C62828"/>
                </a:solidFill>
                <a:latin typeface="微软雅黑" panose="020B0503020204020204" charset="-122"/>
              </a:defRPr>
            </a:pPr>
            <a:r>
              <a:t>0.3904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364991"/>
            <a:ext cx="201168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+0.3904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21024"/>
            <a:ext cx="182880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有害准确率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94560" y="3621024"/>
            <a:ext cx="201168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C62828"/>
                </a:solidFill>
                <a:latin typeface="微软雅黑" panose="020B0503020204020204" charset="-122"/>
              </a:defRPr>
            </a:pPr>
            <a:r>
              <a:t>0.0000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6240" y="3621024"/>
            <a:ext cx="201168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0.4919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3621024"/>
            <a:ext cx="201168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+0.4919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877056"/>
            <a:ext cx="18288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其他准确率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3877056"/>
            <a:ext cx="201168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C62828"/>
                </a:solidFill>
                <a:latin typeface="微软雅黑" panose="020B0503020204020204" charset="-122"/>
              </a:defRPr>
            </a:pPr>
            <a:r>
              <a:t>0.0000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6240" y="3877056"/>
            <a:ext cx="201168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0.5724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3877056"/>
            <a:ext cx="201168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+0.5724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133088"/>
            <a:ext cx="182880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失败案例数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94560" y="4133088"/>
            <a:ext cx="201168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1387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06240" y="4133088"/>
            <a:ext cx="201168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902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4133088"/>
            <a:ext cx="2011680" cy="256032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0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-485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5760" y="4343400"/>
            <a:ext cx="8412480" cy="54864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💡 CNN在非厨余类上提升显著，但厨余准确率略有下降（不再全猜厨余）；总准确率被厨余拉高，必须看每类表现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645920" cy="292608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🎯 懒得起名组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0972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每类分析 &amp; 消融实验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📊 CNN每类准确率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🍎 厨余垃圾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804672"/>
            <a:ext cx="2335834" cy="14630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8954" y="77724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85.15% (877/1030)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7772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C62828"/>
                </a:solidFill>
                <a:latin typeface="微软雅黑" panose="020B0503020204020204" charset="-122"/>
              </a:defRPr>
            </a:pPr>
            <a:r>
              <a:t>表现最好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6984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🗑️ 其他垃圾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1097280"/>
            <a:ext cx="1570207" cy="146304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3327" y="106984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57575"/>
                </a:solidFill>
                <a:latin typeface="微软雅黑" panose="020B0503020204020204" charset="-122"/>
              </a:defRPr>
            </a:pPr>
            <a:r>
              <a:t>57.24% (166/290)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36245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☠️ 有害垃圾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1389888"/>
            <a:ext cx="1349380" cy="146304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2500" y="13624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6C00"/>
                </a:solidFill>
                <a:latin typeface="微软雅黑" panose="020B0503020204020204" charset="-122"/>
              </a:defRPr>
            </a:pPr>
            <a:r>
              <a:t>49.19% (212/431)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165506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♻️ 可回收物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1682496"/>
            <a:ext cx="107094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74065" y="165506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62828"/>
                </a:solidFill>
                <a:latin typeface="微软雅黑" panose="020B0503020204020204" charset="-122"/>
              </a:defRPr>
            </a:pPr>
            <a:r>
              <a:t>39.04% (260/666)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6550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C62828"/>
                </a:solidFill>
                <a:latin typeface="微软雅黑" panose="020B0503020204020204" charset="-122"/>
              </a:defRPr>
            </a:pPr>
            <a:r>
              <a:t>⚠️ 最难！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057400"/>
            <a:ext cx="5029200" cy="320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⚠️ 可回收物误分析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23160"/>
            <a:ext cx="502920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可回收物准确率仅0.39，是最难的类别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204/666张可回收物被误判为其他垃圾</a:t>
            </a:r>
          </a:p>
          <a:p>
            <a:pPr>
              <a:spcAft>
                <a:spcPts val="300"/>
              </a:spcAft>
              <a:defRPr sz="9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原因：塑料/金属/纸张外观差异大，类内方差大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0" y="502920"/>
            <a:ext cx="3108960" cy="320040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🔬 消融实验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8686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实验1：训练轮数影响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EPOCHS=3 → 准确率0.5602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EPOCHS=6 → 准确率0.6268 ✓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→ 训练不足会欠拟合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实验2：训练数据量影响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TRAIN_LIMIT=2000 → 0.6181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TRAIN_LIMIT=4000 → 0.6268 ✓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  → 更多数据略有提升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2194560"/>
            <a:ext cx="310896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✅ 成功案例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25603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img_毛巾_185.jpeg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真值=其他垃圾，预测正确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毛巾布料纹理清晰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与厨余/金属差异明显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证明模型能识别明显特征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3383280"/>
            <a:ext cx="3108960" cy="320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❌ 失败案例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3749039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img_胶带_182.jpeg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真值=其他垃圾，预测=有害垃圾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胶带光滑紧凑，特征不明</a:t>
            </a:r>
          </a:p>
          <a:p>
            <a:pPr>
              <a:spcAft>
                <a:spcPts val="300"/>
              </a:spcAft>
              <a:defRPr sz="800">
                <a:solidFill>
                  <a:srgbClr val="21295C"/>
                </a:solidFill>
                <a:latin typeface="微软雅黑" panose="020B0503020204020204" charset="-122"/>
              </a:defRPr>
            </a:pPr>
            <a:r>
              <a:t>64×64小图下与电池等混淆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520440"/>
            <a:ext cx="5029200" cy="100584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📌 关键教训：不能只看总准确率和前几个失败案例——必须用每类准确率+混淆矩阵统计，才能发现真正的问题类别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17" name="Kicker"/>
          <p:cNvSpPr txBox="1"/>
          <p:nvPr/>
        </p:nvSpPr>
        <p:spPr>
          <a:xfrm>
            <a:off x="405000" y="189000"/>
            <a:ext cx="4050000" cy="216000"/>
          </a:xfrm>
          <a:prstGeom prst="rect">
            <a:avLst/>
          </a:prstGeom>
        </p:spPr>
        <p:txBody>
          <a:bodyPr lIns="32400" tIns="32400" rIns="32400" bIns="32400" anchor="ctr">
            <a:normAutofit fontScale="90000"/>
          </a:bodyPr>
          <a:lstStyle/>
          <a:p>
            <a:pPr algn="l"/>
            <a:r>
              <a:rPr lang="zh-CN" sz="1050" b="1">
                <a:solidFill>
                  <a:srgbClr val="028090"/>
                </a:solidFill>
                <a:latin typeface="微软雅黑" panose="020B0503020204020204" charset="-122"/>
                <a:ea typeface="微软雅黑" panose="020B0503020204020204" charset="-122"/>
              </a:rPr>
              <a:t>04 · 90 秒</a:t>
            </a:r>
            <a:endParaRPr lang="zh-CN" sz="1050" b="1">
              <a:solidFill>
                <a:srgbClr val="02809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8" name="Title"/>
          <p:cNvSpPr txBox="1"/>
          <p:nvPr/>
        </p:nvSpPr>
        <p:spPr>
          <a:xfrm>
            <a:off x="405000" y="418500"/>
            <a:ext cx="8235000" cy="567000"/>
          </a:xfrm>
          <a:prstGeom prst="rect">
            <a:avLst/>
          </a:prstGeom>
        </p:spPr>
        <p:txBody>
          <a:bodyPr lIns="32400" tIns="32400" rIns="32400" bIns="32400" anchor="ctr">
            <a:normAutofit/>
          </a:bodyPr>
          <a:lstStyle/>
          <a:p>
            <a:pPr algn="l"/>
            <a:r>
              <a:rPr lang="zh-CN" sz="2850" b="1">
                <a:solidFill>
                  <a:srgbClr val="183B45"/>
                </a:solidFill>
                <a:latin typeface="微软雅黑" panose="020B0503020204020204" charset="-122"/>
                <a:ea typeface="微软雅黑" panose="020B0503020204020204" charset="-122"/>
              </a:rPr>
              <a:t>简单基线与候选</a:t>
            </a:r>
            <a:endParaRPr lang="zh-CN" sz="2850" b="1">
              <a:solidFill>
                <a:srgbClr val="183B4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9" name="PageMark"/>
          <p:cNvSpPr/>
          <p:nvPr/>
        </p:nvSpPr>
        <p:spPr>
          <a:xfrm>
            <a:off x="8424000" y="189000"/>
            <a:ext cx="297000" cy="297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00020" name="LeftCard"/>
          <p:cNvSpPr/>
          <p:nvPr/>
        </p:nvSpPr>
        <p:spPr>
          <a:xfrm>
            <a:off x="405000" y="1620000"/>
            <a:ext cx="3969000" cy="1755000"/>
          </a:xfrm>
          <a:prstGeom prst="roundRect">
            <a:avLst/>
          </a:prstGeom>
          <a:solidFill>
            <a:srgbClr val="183B45"/>
          </a:solidFill>
          <a:ln>
            <a:noFill/>
          </a:ln>
        </p:spPr>
        <p:txBody>
          <a:bodyPr lIns="67500" tIns="67500" rIns="67500" bIns="67500" anchor="ctr">
            <a:normAutofit/>
          </a:bodyPr>
          <a:lstStyle/>
          <a:p>
            <a:pPr algn="ctr"/>
            <a:r>
              <a:rPr lang="zh-CN" altLang="en-US" sz="17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基线：多数类（全猜厨余）0.4261</a:t>
            </a:r>
            <a:endParaRPr lang="zh-CN" altLang="en-US" sz="17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1" name="RightCard"/>
          <p:cNvSpPr/>
          <p:nvPr/>
        </p:nvSpPr>
        <p:spPr>
          <a:xfrm>
            <a:off x="4617000" y="1620000"/>
            <a:ext cx="4077000" cy="17550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lIns="67500" tIns="67500" rIns="67500" bIns="67500" anchor="ctr">
            <a:normAutofit/>
          </a:bodyPr>
          <a:lstStyle/>
          <a:p>
            <a:pPr algn="ctr"/>
            <a:r>
              <a:rPr lang="zh-CN" altLang="en-US" sz="1725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候选一：小 </a:t>
            </a:r>
            <a:r>
              <a:rPr lang="en-US" altLang="zh-CN" sz="1725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CNN（</a:t>
            </a:r>
            <a:r>
              <a:rPr lang="zh-CN" altLang="en-US" sz="1725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从零训练）0.6268</a:t>
            </a:r>
            <a:endParaRPr lang="zh-CN" altLang="en-US" sz="1725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725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候选二：迁移学习（预训练 </a:t>
            </a:r>
            <a:r>
              <a:rPr lang="en-US" altLang="zh-CN" sz="1725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ResNet18 </a:t>
            </a:r>
            <a:r>
              <a:rPr lang="zh-CN" altLang="en-US" sz="1725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冻结 + 线性分类器）0.8858</a:t>
            </a:r>
            <a:endParaRPr lang="zh-CN" altLang="en-US" sz="1725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2" name="FinalFooter"/>
          <p:cNvSpPr txBox="1"/>
          <p:nvPr/>
        </p:nvSpPr>
        <p:spPr>
          <a:xfrm>
            <a:off x="540000" y="3888000"/>
            <a:ext cx="8073000" cy="324000"/>
          </a:xfrm>
          <a:prstGeom prst="rect">
            <a:avLst/>
          </a:prstGeom>
        </p:spPr>
        <p:txBody>
          <a:bodyPr lIns="32400" tIns="32400" rIns="32400" bIns="32400" anchor="ctr">
            <a:normAutofit/>
          </a:bodyPr>
          <a:lstStyle/>
          <a:p>
            <a:pPr algn="ctr"/>
            <a:endParaRPr lang="zh-CN" sz="1350" b="0">
              <a:solidFill>
                <a:srgbClr val="39545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23" name="Kicker"/>
          <p:cNvSpPr txBox="1"/>
          <p:nvPr/>
        </p:nvSpPr>
        <p:spPr>
          <a:xfrm>
            <a:off x="405000" y="189000"/>
            <a:ext cx="4050000" cy="216000"/>
          </a:xfrm>
          <a:prstGeom prst="rect">
            <a:avLst/>
          </a:prstGeom>
        </p:spPr>
        <p:txBody>
          <a:bodyPr lIns="32400" tIns="32400" rIns="32400" bIns="32400" anchor="ctr">
            <a:normAutofit fontScale="90000"/>
          </a:bodyPr>
          <a:lstStyle/>
          <a:p>
            <a:pPr algn="l"/>
            <a:r>
              <a:rPr lang="zh-CN" sz="1050" b="1">
                <a:solidFill>
                  <a:srgbClr val="028090"/>
                </a:solidFill>
                <a:latin typeface="微软雅黑" panose="020B0503020204020204" charset="-122"/>
                <a:ea typeface="微软雅黑" panose="020B0503020204020204" charset="-122"/>
              </a:rPr>
              <a:t>05 · 90 秒</a:t>
            </a:r>
            <a:endParaRPr lang="zh-CN" sz="1050" b="1">
              <a:solidFill>
                <a:srgbClr val="02809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4" name="Title"/>
          <p:cNvSpPr txBox="1"/>
          <p:nvPr/>
        </p:nvSpPr>
        <p:spPr>
          <a:xfrm>
            <a:off x="405000" y="418500"/>
            <a:ext cx="8235000" cy="567000"/>
          </a:xfrm>
          <a:prstGeom prst="rect">
            <a:avLst/>
          </a:prstGeom>
        </p:spPr>
        <p:txBody>
          <a:bodyPr lIns="32400" tIns="32400" rIns="32400" bIns="32400" anchor="ctr">
            <a:normAutofit/>
          </a:bodyPr>
          <a:lstStyle/>
          <a:p>
            <a:pPr algn="l"/>
            <a:r>
              <a:rPr lang="zh-CN" sz="2850" b="1">
                <a:solidFill>
                  <a:srgbClr val="183B45"/>
                </a:solidFill>
                <a:latin typeface="微软雅黑" panose="020B0503020204020204" charset="-122"/>
                <a:ea typeface="微软雅黑" panose="020B0503020204020204" charset="-122"/>
              </a:rPr>
              <a:t>同一条件下的结果</a:t>
            </a:r>
            <a:endParaRPr lang="zh-CN" sz="2850" b="1">
              <a:solidFill>
                <a:srgbClr val="183B4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5" name="PageMark"/>
          <p:cNvSpPr/>
          <p:nvPr/>
        </p:nvSpPr>
        <p:spPr>
          <a:xfrm>
            <a:off x="8424000" y="189000"/>
            <a:ext cx="297000" cy="297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00026" name="LeftCard"/>
          <p:cNvSpPr/>
          <p:nvPr/>
        </p:nvSpPr>
        <p:spPr>
          <a:xfrm>
            <a:off x="405000" y="1620000"/>
            <a:ext cx="3969000" cy="1755000"/>
          </a:xfrm>
          <a:prstGeom prst="roundRect">
            <a:avLst/>
          </a:prstGeom>
          <a:solidFill>
            <a:srgbClr val="183B45"/>
          </a:solidFill>
          <a:ln>
            <a:noFill/>
          </a:ln>
        </p:spPr>
        <p:txBody>
          <a:bodyPr lIns="67500" tIns="67500" rIns="67500" bIns="67500" anchor="ctr">
            <a:normAutofit/>
          </a:bodyPr>
          <a:lstStyle/>
          <a:p>
            <a:pPr algn="ctr"/>
            <a:r>
              <a:rPr lang="zh-CN" altLang="en-US" sz="17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左框：同一测试集 2417 张——基线 0.4261 / 候选一 0.6268 / 候选二 0.8858</a:t>
            </a:r>
            <a:endParaRPr lang="zh-CN" altLang="en-US" sz="17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7" name="RightCard"/>
          <p:cNvSpPr/>
          <p:nvPr/>
        </p:nvSpPr>
        <p:spPr>
          <a:xfrm>
            <a:off x="4617000" y="1620000"/>
            <a:ext cx="4077000" cy="17550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lIns="67500" tIns="67500" rIns="67500" bIns="67500" anchor="ctr">
            <a:normAutofit/>
          </a:bodyPr>
          <a:lstStyle/>
          <a:p>
            <a:pPr algn="ctr"/>
            <a:r>
              <a:rPr lang="zh-CN" altLang="en-US" sz="1725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每类准确率(候选二)——厨余 0.96、有害 0.89、其他 0.81、可回收 0.80</a:t>
            </a:r>
            <a:endParaRPr lang="zh-CN" altLang="en-US" sz="1725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8" name="FinalFooter"/>
          <p:cNvSpPr txBox="1"/>
          <p:nvPr/>
        </p:nvSpPr>
        <p:spPr>
          <a:xfrm>
            <a:off x="540000" y="3888000"/>
            <a:ext cx="8073000" cy="324000"/>
          </a:xfrm>
          <a:prstGeom prst="rect">
            <a:avLst/>
          </a:prstGeom>
        </p:spPr>
        <p:txBody>
          <a:bodyPr lIns="32400" tIns="32400" rIns="32400" bIns="32400" anchor="ctr">
            <a:normAutofit/>
          </a:bodyPr>
          <a:lstStyle/>
          <a:p>
            <a:pPr algn="ctr"/>
            <a:endParaRPr lang="zh-CN" sz="1350" b="0">
              <a:solidFill>
                <a:srgbClr val="39545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3104515"/>
            <a:ext cx="8267699" cy="1619250"/>
          </a:xfrm>
          <a:prstGeom prst="rect">
            <a:avLst/>
          </a:prstGeom>
        </p:spPr>
      </p:pic>
      <p:pic>
        <p:nvPicPr>
          <p:cNvPr id="3" name="图片 2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-4445"/>
            <a:ext cx="2090420" cy="3093720"/>
          </a:xfrm>
          <a:prstGeom prst="rect">
            <a:avLst/>
          </a:prstGeom>
        </p:spPr>
      </p:pic>
      <p:pic>
        <p:nvPicPr>
          <p:cNvPr id="4" name="图片 3"/>
          <p:cNvPicPr/>
          <p:nvPr/>
        </p:nvPicPr>
        <p:blipFill>
          <a:blip r:embed="rId3"/>
          <a:stretch>
            <a:fillRect/>
          </a:stretch>
        </p:blipFill>
        <p:spPr>
          <a:xfrm>
            <a:off x="2090420" y="-4445"/>
            <a:ext cx="3077210" cy="3065780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4"/>
          <a:stretch>
            <a:fillRect/>
          </a:stretch>
        </p:blipFill>
        <p:spPr>
          <a:xfrm>
            <a:off x="5267960" y="-4445"/>
            <a:ext cx="2950845" cy="30264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645920" cy="292608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🎯 懒得起名组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0972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限制、改进与结论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48640"/>
            <a:ext cx="4023360" cy="320040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🚫 不能推出的结论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402336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不能说模型已达到实用水平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  → </a:t>
            </a:r>
            <a:r>
              <a:rPr lang="zh-CN"/>
              <a:t>模型准确率有待提升</a:t>
            </a:r>
            <a:endParaRPr lang="zh-CN"/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不能</a:t>
            </a:r>
            <a:r>
              <a:rPr lang="zh-CN"/>
              <a:t>直接</a:t>
            </a:r>
            <a:r>
              <a:t>用于自动分拣决策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  → </a:t>
            </a:r>
            <a:r>
              <a:rPr lang="zh-CN"/>
              <a:t>背景并非传送带没有特化场景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4754880" y="548640"/>
            <a:ext cx="402336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📈 下一步最小改进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914400"/>
            <a:ext cx="4023360" cy="111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给可回收物类补充训练数据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增加颜色抖动等数据增强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调整类别权重处理不平衡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分析误判样本共同特征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调整分类阈值降低漏检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rPr lang="zh-CN"/>
              <a:t>增加</a:t>
            </a:r>
            <a:r>
              <a:rPr lang="en-US" altLang="zh-CN"/>
              <a:t>“</a:t>
            </a:r>
            <a:r>
              <a:rPr lang="zh-CN" altLang="en-US"/>
              <a:t>混合</a:t>
            </a:r>
            <a:r>
              <a:rPr lang="en-US" altLang="zh-CN"/>
              <a:t>“</a:t>
            </a:r>
            <a:r>
              <a:rPr lang="zh-CN" altLang="en-US"/>
              <a:t>分类</a:t>
            </a:r>
            <a:endParaRPr lang="zh-CN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365760" y="283464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无密钥、无个人信息，只用获批的公开数据（Apache 2.0）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只在四类间判断；低置信度提示人工复核，不直接按结果分拣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不做自动罚款、医疗、安全等高风险自动决策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566160"/>
            <a:ext cx="8412480" cy="91440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🎯 核心结论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86200"/>
            <a:ext cx="804672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在12,094张真实垃圾图像上，能学到有效视觉特征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总准确率被多数类"厨余"拉高；可回收物最难</a:t>
            </a:r>
            <a:r>
              <a:rPr lang="zh-CN"/>
              <a:t>，</a:t>
            </a:r>
            <a:r>
              <a:t>被误判成其他垃圾导致资源流失</a:t>
            </a:r>
          </a:p>
          <a:p>
            <a:pPr>
              <a:spcAft>
                <a:spcPts val="300"/>
              </a:spcAft>
              <a:defRPr sz="900">
                <a:solidFill>
                  <a:srgbClr val="E8F5E9"/>
                </a:solidFill>
                <a:latin typeface="微软雅黑" panose="020B0503020204020204" charset="-122"/>
              </a:defRPr>
            </a:pPr>
            <a:r>
              <a:t>这是初筛辅助工具，必须由人工复核，不能</a:t>
            </a:r>
            <a:r>
              <a:rPr lang="zh-CN"/>
              <a:t>完全</a:t>
            </a:r>
            <a:r>
              <a:t>自动分拣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谢谢! | 懒得起名组 |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3483</Words>
  <Application>WPS 演示</Application>
  <PresentationFormat>全屏显示(16:9)</PresentationFormat>
  <Paragraphs>398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徐梓朔</dc:creator>
  <dc:description>generated using python-pptx</dc:description>
  <cp:lastModifiedBy>淦</cp:lastModifiedBy>
  <cp:revision>3</cp:revision>
  <dcterms:created xsi:type="dcterms:W3CDTF">2013-01-27T09:14:00Z</dcterms:created>
  <dcterms:modified xsi:type="dcterms:W3CDTF">2026-08-28T01:22:11Z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578F4C0F83754AE99B98660A27FF07D8_12</vt:lpwstr>
  </property>
</Properties>
</file>